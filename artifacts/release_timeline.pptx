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7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870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12271D8-6539-4EB0-A25C-1B7D13FE909C}" type="datetimeFigureOut">
              <a:t>4/3/2026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96EF744-0942-4046-9026-C7A89B737C3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1157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A6E93E-AA4D-04A3-5F9F-5FBC01189C2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F8FE6F6-D8E6-9BAC-DF0D-1343C9615C6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CBE8407-06C2-B2AC-E5E9-7821E8255D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617403-03E0-4D0F-839A-15E397C8F9BE}" type="datetimeFigureOut">
              <a:rPr lang="en-US" smtClean="0"/>
              <a:t>4/3/2026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346B24-C047-49A1-A790-B3A83790AC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6A591C9-5889-B38B-6192-5C8A990065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FBEA46-C043-4682-97B3-93EB70B267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94865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D64CD2-C0FB-3832-0F0B-4CED66909F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2AFE5B-CFB6-284A-81AE-CB0CA1F5BB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E69B7A-CBE2-B1B9-87F3-AC4FE68778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617403-03E0-4D0F-839A-15E397C8F9BE}" type="datetimeFigureOut">
              <a:rPr lang="en-US" smtClean="0"/>
              <a:t>4/3/2026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BAAFD6-AD54-3071-67F5-96681CED41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B9ACF10-A734-E45C-B2F4-F14A827B9A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FBEA46-C043-4682-97B3-93EB70B267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00966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56C8E2-9226-454D-CE9A-E97BCC2C66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9A8AB60-3A5B-041B-B448-6AECD1BD547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D28CFD-92A0-AF7E-2FE6-62520D04C2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617403-03E0-4D0F-839A-15E397C8F9BE}" type="datetimeFigureOut">
              <a:rPr lang="en-US" smtClean="0"/>
              <a:t>4/3/2026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CF75C1-2A6A-0639-E4FA-445051BB5E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FCBD87-FB94-54F3-6394-268A2227E4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FBEA46-C043-4682-97B3-93EB70B267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9559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B7EC24-4983-70AB-1999-DA60625B9E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51CAEA-D512-F7F0-B9A9-25D1C1A5049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FCEE951-1A02-D63C-0197-5334D017D2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7FCB7AA-6E6F-00E9-B261-91FEFF2BEA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617403-03E0-4D0F-839A-15E397C8F9BE}" type="datetimeFigureOut">
              <a:rPr lang="en-US" smtClean="0"/>
              <a:t>4/3/2026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81D4330-E4A9-3C29-F075-4D428B2ABA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53597D3-D161-40BE-B742-E5C513CFF5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FBEA46-C043-4682-97B3-93EB70B267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064796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791C03-CB87-8835-8A10-3BBDD84FA5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2ABD543-9DBB-B93B-5FD6-61EE2EEA11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3BA9138-2271-D7F7-5D33-3BC81378EB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FB3D098-0DBD-218A-858C-9E011849D65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BF43A7E-6054-97C6-F03F-22F1B23958C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CBAB240-1156-1BDE-C0C4-3901C4E317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617403-03E0-4D0F-839A-15E397C8F9BE}" type="datetimeFigureOut">
              <a:rPr lang="en-US" smtClean="0"/>
              <a:t>4/3/2026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AFEBD83-A600-9B3D-4724-BB46FD812D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33BD015-E683-3AB9-74DB-18E6E00C99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FBEA46-C043-4682-97B3-93EB70B267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14194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5FCC3B-9BD3-2555-CDF4-7D374EACCD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EF2B55E-EC64-8E36-A129-FE0A14E16B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617403-03E0-4D0F-839A-15E397C8F9BE}" type="datetimeFigureOut">
              <a:rPr lang="en-US" smtClean="0"/>
              <a:t>4/3/2026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5DF480A-C174-A32F-3024-CA9E4E2496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FA7CB5C-A6BC-702A-E7EF-31692E35CD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FBEA46-C043-4682-97B3-93EB70B267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47747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C0AA9A9-1B85-CE2D-1FF3-08FA18561A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617403-03E0-4D0F-839A-15E397C8F9BE}" type="datetimeFigureOut">
              <a:rPr lang="en-US" smtClean="0"/>
              <a:t>4/3/2026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9A7579C-CF38-9FC2-8620-6D33DD8427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227F2C-8E6F-5848-C8C2-7117397D06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FBEA46-C043-4682-97B3-93EB70B267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098677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C408FB-7CDD-34E0-2F93-CBC83300EA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D0E697-06C7-88C1-1B71-413267F8F0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F569980-2510-5571-BC41-23DB0951DF4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C3ECD94-643D-7CA6-8637-2DF9D46C43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617403-03E0-4D0F-839A-15E397C8F9BE}" type="datetimeFigureOut">
              <a:rPr lang="en-US" smtClean="0"/>
              <a:t>4/3/2026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71B408A-D645-9520-0755-1BDFC65C60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436F3AC-7100-0766-C31E-0F24256E12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FBEA46-C043-4682-97B3-93EB70B267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21097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E2377D-8941-624F-A016-2A40584E38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108B4B6-A3DA-727A-834F-232FAE3C766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494773A-A306-CAFD-09C8-E4A9B6CCB70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EB4D53D-D990-C8FF-EB42-0EFA543FD2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617403-03E0-4D0F-839A-15E397C8F9BE}" type="datetimeFigureOut">
              <a:rPr lang="en-US" smtClean="0"/>
              <a:t>4/3/2026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ABBEE9E-62AB-00FC-6AC3-58F4C31CCB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A7FD1E8-9FDD-19EA-4A8B-38D4824AF0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FBEA46-C043-4682-97B3-93EB70B267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53125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9728F5-5461-89F6-A50E-4DE1F9723A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1E33CE7-CD4B-4434-B35D-0A698713A9A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D29A0A7-87BB-7DCA-3433-8ECD6C4D28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617403-03E0-4D0F-839A-15E397C8F9BE}" type="datetimeFigureOut">
              <a:rPr lang="en-US" smtClean="0"/>
              <a:t>4/3/2026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076A50-CF50-9D54-DA68-9BEC08BE39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D7FC43-5D9F-A9B7-E892-5C6B2160EB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FBEA46-C043-4682-97B3-93EB70B267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7960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DBC9F3E-316A-FBE4-F39E-36D776E5F8C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6B65026-4A7E-E506-E384-BEBCE01F23A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CD958D-F6BA-5856-F659-5CEB2AFB2F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617403-03E0-4D0F-839A-15E397C8F9BE}" type="datetimeFigureOut">
              <a:rPr lang="en-US" smtClean="0"/>
              <a:t>4/3/2026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457C0D-12BF-0941-4BD6-6AF6E51799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5EA7BF4-4C4E-4D36-037E-5C114D4016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FBEA46-C043-4682-97B3-93EB70B267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53348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606500E-E1B9-B81F-C704-36D126ED1D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AD56269-1321-90C3-BB63-11AEB847E4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300937-F641-EDB0-85D3-767A113F556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0617403-03E0-4D0F-839A-15E397C8F9BE}" type="datetimeFigureOut">
              <a:rPr lang="en-US" smtClean="0"/>
              <a:t>4/3/2026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DD1C18-081B-F9DE-053A-19363696BF5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974670-B6C5-0AAB-44D1-E25A52445B5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DFBEA46-C043-4682-97B3-93EB70B267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14870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AD43A76A-18B1-A866-EA13-D166B39E2715}"/>
              </a:ext>
            </a:extLst>
          </p:cNvPr>
          <p:cNvCxnSpPr>
            <a:cxnSpLocks/>
          </p:cNvCxnSpPr>
          <p:nvPr/>
        </p:nvCxnSpPr>
        <p:spPr>
          <a:xfrm>
            <a:off x="628650" y="3289299"/>
            <a:ext cx="109347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Oval 5">
            <a:extLst>
              <a:ext uri="{FF2B5EF4-FFF2-40B4-BE49-F238E27FC236}">
                <a16:creationId xmlns:a16="http://schemas.microsoft.com/office/drawing/2014/main" id="{E7A09275-38F8-3771-C001-30E1E0D81436}"/>
              </a:ext>
            </a:extLst>
          </p:cNvPr>
          <p:cNvSpPr/>
          <p:nvPr/>
        </p:nvSpPr>
        <p:spPr>
          <a:xfrm>
            <a:off x="617401" y="3163026"/>
            <a:ext cx="252549" cy="252546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8E9F796-7FC2-5F82-0489-DBA98051D72C}"/>
              </a:ext>
            </a:extLst>
          </p:cNvPr>
          <p:cNvSpPr/>
          <p:nvPr/>
        </p:nvSpPr>
        <p:spPr>
          <a:xfrm>
            <a:off x="722812" y="3391262"/>
            <a:ext cx="45719" cy="3231653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3D5FEE3-EE64-124D-5227-D6EEA920C23C}"/>
              </a:ext>
            </a:extLst>
          </p:cNvPr>
          <p:cNvSpPr txBox="1"/>
          <p:nvPr/>
        </p:nvSpPr>
        <p:spPr>
          <a:xfrm>
            <a:off x="768530" y="3518263"/>
            <a:ext cx="2670116" cy="32316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 sz="1200" dirty="0"/>
              <a:t>Thoughts</a:t>
            </a:r>
          </a:p>
          <a:p>
            <a:pPr marL="285750" indent="-285750">
              <a:buFontTx/>
              <a:buChar char="-"/>
            </a:pPr>
            <a:r>
              <a:rPr lang="en-US" sz="1200" dirty="0"/>
              <a:t>Tabular Analysis</a:t>
            </a:r>
          </a:p>
          <a:p>
            <a:pPr marL="285750" indent="-285750">
              <a:buFontTx/>
              <a:buChar char="-"/>
            </a:pPr>
            <a:r>
              <a:rPr lang="en-US" sz="1200" dirty="0"/>
              <a:t>Multi-GPT Endpoint</a:t>
            </a:r>
          </a:p>
          <a:p>
            <a:pPr marL="285750" indent="-285750">
              <a:buFontTx/>
              <a:buChar char="-"/>
            </a:pPr>
            <a:r>
              <a:rPr lang="en-US" sz="1200" dirty="0"/>
              <a:t>Support for Foundry Models*</a:t>
            </a:r>
          </a:p>
          <a:p>
            <a:pPr marL="285750" indent="-285750">
              <a:buFontTx/>
              <a:buChar char="-"/>
            </a:pPr>
            <a:r>
              <a:rPr lang="en-US" sz="1200" dirty="0"/>
              <a:t>Conversation Export</a:t>
            </a:r>
          </a:p>
          <a:p>
            <a:pPr marL="285750" indent="-285750">
              <a:buFontTx/>
              <a:buChar char="-"/>
            </a:pPr>
            <a:r>
              <a:rPr lang="en-US" sz="1200" dirty="0"/>
              <a:t>Message Export</a:t>
            </a:r>
          </a:p>
          <a:p>
            <a:pPr marL="285750" indent="-285750">
              <a:buFontTx/>
              <a:buChar char="-"/>
            </a:pPr>
            <a:r>
              <a:rPr lang="en-US" sz="1200" dirty="0"/>
              <a:t>Agent/Action Improvements</a:t>
            </a:r>
          </a:p>
          <a:p>
            <a:pPr marL="285750" indent="-285750">
              <a:buFontTx/>
              <a:buChar char="-"/>
            </a:pPr>
            <a:r>
              <a:rPr lang="en-US" sz="1200" dirty="0"/>
              <a:t>Conversation Summaries</a:t>
            </a:r>
          </a:p>
          <a:p>
            <a:pPr marL="285750" indent="-285750">
              <a:buFontTx/>
              <a:buChar char="-"/>
            </a:pPr>
            <a:r>
              <a:rPr lang="en-US" sz="1200" dirty="0"/>
              <a:t>Improved Performance with Background Threading</a:t>
            </a:r>
          </a:p>
          <a:p>
            <a:pPr marL="285750" indent="-285750">
              <a:buFontTx/>
              <a:buChar char="-"/>
            </a:pPr>
            <a:r>
              <a:rPr lang="en-US" sz="1200" dirty="0"/>
              <a:t>Chat Background Run </a:t>
            </a:r>
          </a:p>
          <a:p>
            <a:pPr marL="285750" indent="-285750">
              <a:buFontTx/>
              <a:buChar char="-"/>
            </a:pPr>
            <a:r>
              <a:rPr lang="en-US" sz="1200" dirty="0"/>
              <a:t>Chat Notification</a:t>
            </a:r>
          </a:p>
          <a:p>
            <a:pPr marL="285750" indent="-285750">
              <a:buFontTx/>
              <a:buChar char="-"/>
            </a:pPr>
            <a:r>
              <a:rPr lang="en-US" sz="1200" dirty="0"/>
              <a:t>Chat Tutorial</a:t>
            </a:r>
          </a:p>
          <a:p>
            <a:pPr marL="285750" indent="-285750">
              <a:buFontTx/>
              <a:buChar char="-"/>
            </a:pPr>
            <a:r>
              <a:rPr lang="en-US" sz="1200" dirty="0"/>
              <a:t>Workspace Tutorial</a:t>
            </a:r>
          </a:p>
          <a:p>
            <a:pPr marL="285750" indent="-285750">
              <a:buFontTx/>
              <a:buChar char="-"/>
            </a:pPr>
            <a:r>
              <a:rPr lang="en-US" sz="1200" dirty="0"/>
              <a:t>Feedback Submission</a:t>
            </a:r>
          </a:p>
          <a:p>
            <a:pPr marL="285750" indent="-285750">
              <a:buFontTx/>
              <a:buChar char="-"/>
            </a:pPr>
            <a:r>
              <a:rPr lang="en-US" sz="1200" dirty="0"/>
              <a:t>Notification Registration</a:t>
            </a:r>
          </a:p>
          <a:p>
            <a:pPr marL="285750" indent="-285750">
              <a:buFontTx/>
              <a:buChar char="-"/>
            </a:pPr>
            <a:r>
              <a:rPr lang="en-US" sz="1200" dirty="0"/>
              <a:t>Improved Deployment Workflow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0503AD67-D106-E92D-142C-61A164ED8CF0}"/>
              </a:ext>
            </a:extLst>
          </p:cNvPr>
          <p:cNvSpPr/>
          <p:nvPr/>
        </p:nvSpPr>
        <p:spPr>
          <a:xfrm>
            <a:off x="3346615" y="3163026"/>
            <a:ext cx="252549" cy="252546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F5662C6-8FBD-5384-8599-D06D62EA70B9}"/>
              </a:ext>
            </a:extLst>
          </p:cNvPr>
          <p:cNvSpPr/>
          <p:nvPr/>
        </p:nvSpPr>
        <p:spPr>
          <a:xfrm>
            <a:off x="3432976" y="3289300"/>
            <a:ext cx="45719" cy="2997023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DBC5479-5A0B-433E-B8BB-27E14766A20B}"/>
              </a:ext>
            </a:extLst>
          </p:cNvPr>
          <p:cNvSpPr txBox="1"/>
          <p:nvPr/>
        </p:nvSpPr>
        <p:spPr>
          <a:xfrm>
            <a:off x="3478694" y="5624699"/>
            <a:ext cx="210803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 sz="1200" dirty="0"/>
              <a:t>Search API</a:t>
            </a:r>
          </a:p>
          <a:p>
            <a:pPr marL="285750" indent="-285750">
              <a:buFontTx/>
              <a:buChar char="-"/>
            </a:pPr>
            <a:r>
              <a:rPr lang="en-US" sz="1200" dirty="0"/>
              <a:t>Document Compare</a:t>
            </a:r>
          </a:p>
          <a:p>
            <a:pPr marL="742950" lvl="1" indent="-285750">
              <a:buFontTx/>
              <a:buChar char="-"/>
            </a:pPr>
            <a:r>
              <a:rPr lang="en-US" sz="1200" dirty="0"/>
              <a:t>1 to 1</a:t>
            </a:r>
          </a:p>
          <a:p>
            <a:pPr marL="742950" lvl="1" indent="-285750">
              <a:buFontTx/>
              <a:buChar char="-"/>
            </a:pPr>
            <a:r>
              <a:rPr lang="en-US" sz="1200" dirty="0"/>
              <a:t>1 to Many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7C44F16-8869-50F0-F0D3-B7AEB62E7F47}"/>
              </a:ext>
            </a:extLst>
          </p:cNvPr>
          <p:cNvSpPr txBox="1"/>
          <p:nvPr/>
        </p:nvSpPr>
        <p:spPr>
          <a:xfrm rot="20255943">
            <a:off x="935420" y="2606667"/>
            <a:ext cx="102276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April 7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16CE85D-4634-7E5D-389F-73BF4203E651}"/>
              </a:ext>
            </a:extLst>
          </p:cNvPr>
          <p:cNvSpPr txBox="1"/>
          <p:nvPr/>
        </p:nvSpPr>
        <p:spPr>
          <a:xfrm rot="20255943">
            <a:off x="3308873" y="2606666"/>
            <a:ext cx="102276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April 16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3B4FB0C2-5110-C8EC-BA11-0EA874DBF750}"/>
              </a:ext>
            </a:extLst>
          </p:cNvPr>
          <p:cNvSpPr/>
          <p:nvPr/>
        </p:nvSpPr>
        <p:spPr>
          <a:xfrm>
            <a:off x="4037034" y="3163026"/>
            <a:ext cx="252549" cy="252546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8B9390A-36CE-6A06-33DA-E37B24892497}"/>
              </a:ext>
            </a:extLst>
          </p:cNvPr>
          <p:cNvSpPr/>
          <p:nvPr/>
        </p:nvSpPr>
        <p:spPr>
          <a:xfrm>
            <a:off x="4152248" y="3304209"/>
            <a:ext cx="45719" cy="208985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C7EF940-21F0-1018-D899-C517B70ACF05}"/>
              </a:ext>
            </a:extLst>
          </p:cNvPr>
          <p:cNvSpPr txBox="1"/>
          <p:nvPr/>
        </p:nvSpPr>
        <p:spPr>
          <a:xfrm>
            <a:off x="4186893" y="4732436"/>
            <a:ext cx="184941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 sz="1200" dirty="0"/>
              <a:t>Assigned Knowledge for Agents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00EE536-5CAF-46DF-9EAE-04A1688BF8C7}"/>
              </a:ext>
            </a:extLst>
          </p:cNvPr>
          <p:cNvSpPr txBox="1"/>
          <p:nvPr/>
        </p:nvSpPr>
        <p:spPr>
          <a:xfrm rot="20255943">
            <a:off x="3999292" y="2621959"/>
            <a:ext cx="102276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April 23</a:t>
            </a: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74B33E76-8414-D97F-D829-B0E886624E21}"/>
              </a:ext>
            </a:extLst>
          </p:cNvPr>
          <p:cNvSpPr/>
          <p:nvPr/>
        </p:nvSpPr>
        <p:spPr>
          <a:xfrm>
            <a:off x="4719300" y="3163026"/>
            <a:ext cx="252549" cy="252546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CB0B2581-824C-2687-E56F-2ED8420D850F}"/>
              </a:ext>
            </a:extLst>
          </p:cNvPr>
          <p:cNvSpPr/>
          <p:nvPr/>
        </p:nvSpPr>
        <p:spPr>
          <a:xfrm>
            <a:off x="4812011" y="3278319"/>
            <a:ext cx="45719" cy="106915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981FEC4-7366-8787-F668-1FCF6034E2C5}"/>
              </a:ext>
            </a:extLst>
          </p:cNvPr>
          <p:cNvSpPr txBox="1"/>
          <p:nvPr/>
        </p:nvSpPr>
        <p:spPr>
          <a:xfrm>
            <a:off x="4857729" y="3685850"/>
            <a:ext cx="196913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 sz="1200" dirty="0"/>
              <a:t>More Tutorials</a:t>
            </a:r>
          </a:p>
          <a:p>
            <a:pPr marL="285750" indent="-285750">
              <a:buFontTx/>
              <a:buChar char="-"/>
            </a:pPr>
            <a:r>
              <a:rPr lang="en-US" sz="1200" dirty="0"/>
              <a:t>Copilot Integration</a:t>
            </a:r>
          </a:p>
          <a:p>
            <a:pPr marL="285750" indent="-285750">
              <a:buFontTx/>
              <a:buChar char="-"/>
            </a:pPr>
            <a:r>
              <a:rPr lang="en-US" sz="1200" dirty="0"/>
              <a:t>Teams App Integration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A40B5AD-5663-30A9-62A4-2501F7F82DC2}"/>
              </a:ext>
            </a:extLst>
          </p:cNvPr>
          <p:cNvSpPr txBox="1"/>
          <p:nvPr/>
        </p:nvSpPr>
        <p:spPr>
          <a:xfrm rot="20255943">
            <a:off x="4681558" y="2591373"/>
            <a:ext cx="102276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April 30</a:t>
            </a:r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18F932CD-652C-8414-20DA-32C1B00D8C94}"/>
              </a:ext>
            </a:extLst>
          </p:cNvPr>
          <p:cNvSpPr/>
          <p:nvPr/>
        </p:nvSpPr>
        <p:spPr>
          <a:xfrm>
            <a:off x="6897573" y="3163026"/>
            <a:ext cx="252549" cy="252546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B2F05734-233A-99D6-8204-248A4D4AB0B0}"/>
              </a:ext>
            </a:extLst>
          </p:cNvPr>
          <p:cNvSpPr/>
          <p:nvPr/>
        </p:nvSpPr>
        <p:spPr>
          <a:xfrm>
            <a:off x="6996634" y="3278319"/>
            <a:ext cx="45719" cy="3008003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BF3160F-8669-9145-D8B2-86FA725971F9}"/>
              </a:ext>
            </a:extLst>
          </p:cNvPr>
          <p:cNvSpPr txBox="1"/>
          <p:nvPr/>
        </p:nvSpPr>
        <p:spPr>
          <a:xfrm>
            <a:off x="7042352" y="5624698"/>
            <a:ext cx="210803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 sz="1200" dirty="0"/>
              <a:t>Google Workspace Sync</a:t>
            </a:r>
          </a:p>
          <a:p>
            <a:pPr marL="285750" indent="-285750">
              <a:buFontTx/>
              <a:buChar char="-"/>
            </a:pPr>
            <a:r>
              <a:rPr lang="en-US" sz="1200" dirty="0"/>
              <a:t>File Share Sync to Workspaces</a:t>
            </a:r>
          </a:p>
          <a:p>
            <a:pPr marL="742950" lvl="1" indent="-285750">
              <a:buFontTx/>
              <a:buChar char="-"/>
            </a:pPr>
            <a:r>
              <a:rPr lang="en-US" sz="1200" dirty="0"/>
              <a:t>SMB Share</a:t>
            </a:r>
          </a:p>
          <a:p>
            <a:pPr marL="742950" lvl="1" indent="-285750">
              <a:buFontTx/>
              <a:buChar char="-"/>
            </a:pPr>
            <a:r>
              <a:rPr lang="en-US" sz="1200" dirty="0"/>
              <a:t>NFS Share</a:t>
            </a:r>
          </a:p>
          <a:p>
            <a:pPr marL="742950" lvl="1" indent="-285750">
              <a:buFontTx/>
              <a:buChar char="-"/>
            </a:pPr>
            <a:r>
              <a:rPr lang="en-US" sz="1200" dirty="0"/>
              <a:t>Auto Tagging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DE80073-11C9-8BD9-169F-8D811FC5975D}"/>
              </a:ext>
            </a:extLst>
          </p:cNvPr>
          <p:cNvSpPr txBox="1"/>
          <p:nvPr/>
        </p:nvSpPr>
        <p:spPr>
          <a:xfrm rot="20255943">
            <a:off x="6859831" y="2606665"/>
            <a:ext cx="102276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May 14</a:t>
            </a:r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2CC98772-3CDE-BCBD-71A3-641CBCC978BC}"/>
              </a:ext>
            </a:extLst>
          </p:cNvPr>
          <p:cNvSpPr/>
          <p:nvPr/>
        </p:nvSpPr>
        <p:spPr>
          <a:xfrm>
            <a:off x="7556242" y="3163026"/>
            <a:ext cx="252549" cy="252546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B1D262AF-7500-7C70-4877-35F2B198A325}"/>
              </a:ext>
            </a:extLst>
          </p:cNvPr>
          <p:cNvSpPr/>
          <p:nvPr/>
        </p:nvSpPr>
        <p:spPr>
          <a:xfrm>
            <a:off x="7655581" y="3278319"/>
            <a:ext cx="45719" cy="211574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3C30385-221A-9623-0C4F-B7D0764CAFCB}"/>
              </a:ext>
            </a:extLst>
          </p:cNvPr>
          <p:cNvSpPr txBox="1"/>
          <p:nvPr/>
        </p:nvSpPr>
        <p:spPr>
          <a:xfrm>
            <a:off x="7668001" y="4732435"/>
            <a:ext cx="204760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 sz="1200" dirty="0"/>
              <a:t>Workflows</a:t>
            </a:r>
          </a:p>
          <a:p>
            <a:pPr marL="742950" lvl="1" indent="-285750">
              <a:buFontTx/>
              <a:buChar char="-"/>
            </a:pPr>
            <a:r>
              <a:rPr lang="en-US" sz="1200" dirty="0"/>
              <a:t>Summarize</a:t>
            </a:r>
          </a:p>
          <a:p>
            <a:pPr marL="742950" lvl="1" indent="-285750">
              <a:buFontTx/>
              <a:buChar char="-"/>
            </a:pPr>
            <a:r>
              <a:rPr lang="en-US" sz="1200" dirty="0"/>
              <a:t>Criteria Review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23EC3DA3-AC3B-70E5-9B5C-144AFCC237B2}"/>
              </a:ext>
            </a:extLst>
          </p:cNvPr>
          <p:cNvSpPr txBox="1"/>
          <p:nvPr/>
        </p:nvSpPr>
        <p:spPr>
          <a:xfrm rot="20255943">
            <a:off x="7518500" y="2621958"/>
            <a:ext cx="102276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May 21</a:t>
            </a:r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B503CDE9-84FE-75B3-457D-73CCD7CF808B}"/>
              </a:ext>
            </a:extLst>
          </p:cNvPr>
          <p:cNvSpPr/>
          <p:nvPr/>
        </p:nvSpPr>
        <p:spPr>
          <a:xfrm>
            <a:off x="8200408" y="3163026"/>
            <a:ext cx="252549" cy="252546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627882BA-CC91-FA51-E220-200568FC4DF8}"/>
              </a:ext>
            </a:extLst>
          </p:cNvPr>
          <p:cNvSpPr/>
          <p:nvPr/>
        </p:nvSpPr>
        <p:spPr>
          <a:xfrm>
            <a:off x="8299469" y="3289298"/>
            <a:ext cx="45719" cy="105817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9EE4BEC-14D8-F1D6-0376-89A2338F566C}"/>
              </a:ext>
            </a:extLst>
          </p:cNvPr>
          <p:cNvSpPr txBox="1"/>
          <p:nvPr/>
        </p:nvSpPr>
        <p:spPr>
          <a:xfrm>
            <a:off x="8345187" y="3685849"/>
            <a:ext cx="187134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 sz="1200" dirty="0"/>
              <a:t>Workflows</a:t>
            </a:r>
          </a:p>
          <a:p>
            <a:pPr marL="742950" lvl="1" indent="-285750">
              <a:buFontTx/>
              <a:buChar char="-"/>
            </a:pPr>
            <a:r>
              <a:rPr lang="en-US" sz="1200" dirty="0"/>
              <a:t>Use Agents</a:t>
            </a:r>
          </a:p>
          <a:p>
            <a:pPr marL="742950" lvl="1" indent="-285750">
              <a:buFontTx/>
              <a:buChar char="-"/>
            </a:pPr>
            <a:r>
              <a:rPr lang="en-US" sz="1200" dirty="0"/>
              <a:t>Time Triggers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6960CDA-FBB6-1EF8-9DE0-A3C2A86DC314}"/>
              </a:ext>
            </a:extLst>
          </p:cNvPr>
          <p:cNvSpPr txBox="1"/>
          <p:nvPr/>
        </p:nvSpPr>
        <p:spPr>
          <a:xfrm rot="20255943">
            <a:off x="8162666" y="2591372"/>
            <a:ext cx="102276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May 28</a:t>
            </a:r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D63C99D9-F8FA-9BCD-F3DD-39F357291BA0}"/>
              </a:ext>
            </a:extLst>
          </p:cNvPr>
          <p:cNvSpPr/>
          <p:nvPr/>
        </p:nvSpPr>
        <p:spPr>
          <a:xfrm>
            <a:off x="10283321" y="3163026"/>
            <a:ext cx="252549" cy="252546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C7BAF9DF-72BA-9C65-AB93-B9EF061A7C11}"/>
              </a:ext>
            </a:extLst>
          </p:cNvPr>
          <p:cNvSpPr/>
          <p:nvPr/>
        </p:nvSpPr>
        <p:spPr>
          <a:xfrm>
            <a:off x="10382382" y="3289298"/>
            <a:ext cx="45719" cy="299702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97B8D4BC-1FAF-6C2E-F5BD-49FBB682D983}"/>
              </a:ext>
            </a:extLst>
          </p:cNvPr>
          <p:cNvSpPr txBox="1"/>
          <p:nvPr/>
        </p:nvSpPr>
        <p:spPr>
          <a:xfrm>
            <a:off x="10428100" y="5624698"/>
            <a:ext cx="123199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 sz="1200" dirty="0"/>
              <a:t>Group Chat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6F7E869-E4DB-8917-3BC7-ED375AD73F94}"/>
              </a:ext>
            </a:extLst>
          </p:cNvPr>
          <p:cNvSpPr txBox="1"/>
          <p:nvPr/>
        </p:nvSpPr>
        <p:spPr>
          <a:xfrm rot="20255943">
            <a:off x="10245579" y="2606665"/>
            <a:ext cx="102276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June 11</a:t>
            </a:r>
          </a:p>
        </p:txBody>
      </p:sp>
      <p:pic>
        <p:nvPicPr>
          <p:cNvPr id="65" name="Picture 64">
            <a:extLst>
              <a:ext uri="{FF2B5EF4-FFF2-40B4-BE49-F238E27FC236}">
                <a16:creationId xmlns:a16="http://schemas.microsoft.com/office/drawing/2014/main" id="{4DDBDD48-F7A7-A85A-B848-773EFB69D42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37281" y="89160"/>
            <a:ext cx="2965598" cy="1479526"/>
          </a:xfrm>
          <a:prstGeom prst="rect">
            <a:avLst/>
          </a:prstGeom>
        </p:spPr>
      </p:pic>
      <p:sp>
        <p:nvSpPr>
          <p:cNvPr id="66" name="TextBox 65">
            <a:extLst>
              <a:ext uri="{FF2B5EF4-FFF2-40B4-BE49-F238E27FC236}">
                <a16:creationId xmlns:a16="http://schemas.microsoft.com/office/drawing/2014/main" id="{EEBBEAA6-63E9-6A86-4E5A-26A1ED8D3459}"/>
              </a:ext>
            </a:extLst>
          </p:cNvPr>
          <p:cNvSpPr txBox="1"/>
          <p:nvPr/>
        </p:nvSpPr>
        <p:spPr>
          <a:xfrm>
            <a:off x="4097512" y="1553859"/>
            <a:ext cx="324513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Release Schedule – Updated March 26</a:t>
            </a:r>
            <a:r>
              <a:rPr lang="en-US" sz="1200" baseline="30000" dirty="0"/>
              <a:t>th</a:t>
            </a:r>
            <a:r>
              <a:rPr lang="en-US" sz="1200" dirty="0"/>
              <a:t>, 2026</a:t>
            </a:r>
          </a:p>
        </p:txBody>
      </p:sp>
    </p:spTree>
    <p:extLst>
      <p:ext uri="{BB962C8B-B14F-4D97-AF65-F5344CB8AC3E}">
        <p14:creationId xmlns:p14="http://schemas.microsoft.com/office/powerpoint/2010/main" val="165073208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Metadata/LabelInfo.xml><?xml version="1.0" encoding="utf-8"?>
<clbl:labelList xmlns:clbl="http://schemas.microsoft.com/office/2020/mipLabelMetadata">
  <clbl:label id="{f42aa342-8706-4288-bd11-ebb85995028c}" enabled="1" method="Standard" siteId="{72f988bf-86f1-41af-91ab-2d7cd011db47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278</TotalTime>
  <Words>111</Words>
  <Application>Microsoft Office PowerPoint</Application>
  <PresentationFormat>Widescreen</PresentationFormat>
  <Paragraphs>45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Calibri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Paul Lizer</dc:creator>
  <cp:lastModifiedBy>Paul Lizer</cp:lastModifiedBy>
  <cp:revision>4</cp:revision>
  <dcterms:created xsi:type="dcterms:W3CDTF">2026-03-26T18:03:48Z</dcterms:created>
  <dcterms:modified xsi:type="dcterms:W3CDTF">2026-04-03T14:42:55Z</dcterms:modified>
</cp:coreProperties>
</file>